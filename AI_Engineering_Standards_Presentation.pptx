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800"/>
          </a:xfrm>
          <a:prstGeom prst="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200" b="1">
                <a:solidFill>
                  <a:srgbClr val="FFFFFF"/>
                </a:solidFill>
                <a:latin typeface="Calibri"/>
              </a:defRPr>
            </a:pPr>
            <a:r>
              <a:t>AI Engineering Standards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292608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>
                <a:solidFill>
                  <a:srgbClr val="94A3B8"/>
                </a:solidFill>
                <a:latin typeface="Calibri"/>
              </a:defRPr>
            </a:pPr>
            <a:r>
              <a:t>Structured AI Development for Reliable, Secure Software Delivery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0" y="3931920"/>
            <a:ext cx="2103120" cy="25400"/>
          </a:xfrm>
          <a:prstGeom prst="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828800" y="438912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94A3B8"/>
                </a:solidFill>
                <a:latin typeface="Calibri"/>
              </a:defRPr>
            </a:pPr>
            <a:r>
              <a:t>Building on Anthropic's EPCC workflow with automated review, knowledge compounding, and controlled autonomy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492240"/>
            <a:ext cx="12191695" cy="25400"/>
          </a:xfrm>
          <a:prstGeom prst="rect">
            <a:avLst/>
          </a:prstGeom>
          <a:solidFill>
            <a:srgbClr val="3340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653796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Calibri"/>
              </a:defRPr>
            </a:pPr>
            <a:r>
              <a:t>Confidential  |  Internal Presentation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800"/>
          </a:xfrm>
          <a:prstGeom prst="rect">
            <a:avLst/>
          </a:prstGeom>
          <a:solidFill>
            <a:srgbClr val="EF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Calibri"/>
              </a:defRPr>
            </a:pPr>
            <a:r>
              <a:t>The Problem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0584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94A3B8"/>
                </a:solidFill>
                <a:latin typeface="Calibri"/>
              </a:defRPr>
            </a:pPr>
            <a:r>
              <a:t>AI-generated code is shipping to production without structured guardrails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828800"/>
            <a:ext cx="2468880" cy="1463040"/>
          </a:xfrm>
          <a:prstGeom prst="rect">
            <a:avLst/>
          </a:prstGeom>
          <a:solidFill>
            <a:srgbClr val="1A253C"/>
          </a:solidFill>
          <a:ln w="12700">
            <a:solidFill>
              <a:srgbClr val="3340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2011680"/>
            <a:ext cx="24688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EF4444"/>
                </a:solidFill>
                <a:latin typeface="Calibri"/>
              </a:defRPr>
            </a:pPr>
            <a:r>
              <a:t>45%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743200"/>
            <a:ext cx="2468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94A3B8"/>
                </a:solidFill>
                <a:latin typeface="Calibri"/>
              </a:defRPr>
            </a:pPr>
            <a:r>
              <a:t>of AI-generated code</a:t>
            </a:r>
            <a:br/>
            <a:r>
              <a:t>contains vulnerabilities</a:t>
            </a:r>
          </a:p>
        </p:txBody>
      </p:sp>
      <p:sp>
        <p:nvSpPr>
          <p:cNvPr id="8" name="Rectangle 7"/>
          <p:cNvSpPr/>
          <p:nvPr/>
        </p:nvSpPr>
        <p:spPr>
          <a:xfrm>
            <a:off x="3474720" y="1828800"/>
            <a:ext cx="2468880" cy="1463040"/>
          </a:xfrm>
          <a:prstGeom prst="rect">
            <a:avLst/>
          </a:prstGeom>
          <a:solidFill>
            <a:srgbClr val="1A253C"/>
          </a:solidFill>
          <a:ln w="12700">
            <a:solidFill>
              <a:srgbClr val="3340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474720" y="2011680"/>
            <a:ext cx="24688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F59E0B"/>
                </a:solidFill>
                <a:latin typeface="Calibri"/>
              </a:defRPr>
            </a:pPr>
            <a:r>
              <a:t>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474720" y="2743200"/>
            <a:ext cx="2468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94A3B8"/>
                </a:solidFill>
                <a:latin typeface="Calibri"/>
              </a:defRPr>
            </a:pPr>
            <a:r>
              <a:t>structured review gates</a:t>
            </a:r>
            <a:br/>
            <a:r>
              <a:t>in typical AI workflow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17920" y="1828800"/>
            <a:ext cx="2468880" cy="1463040"/>
          </a:xfrm>
          <a:prstGeom prst="rect">
            <a:avLst/>
          </a:prstGeom>
          <a:solidFill>
            <a:srgbClr val="1A253C"/>
          </a:solidFill>
          <a:ln w="12700">
            <a:solidFill>
              <a:srgbClr val="3340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217920" y="2011680"/>
            <a:ext cx="24688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F59E0B"/>
                </a:solidFill>
                <a:latin typeface="Calibri"/>
              </a:defRPr>
            </a:pPr>
            <a:r>
              <a:t>100%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17920" y="2743200"/>
            <a:ext cx="2468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94A3B8"/>
                </a:solidFill>
                <a:latin typeface="Calibri"/>
              </a:defRPr>
            </a:pPr>
            <a:r>
              <a:t>of session knowledge</a:t>
            </a:r>
            <a:br/>
            <a:r>
              <a:t>lost on close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961120" y="1828800"/>
            <a:ext cx="2468880" cy="1463040"/>
          </a:xfrm>
          <a:prstGeom prst="rect">
            <a:avLst/>
          </a:prstGeom>
          <a:solidFill>
            <a:srgbClr val="1A253C"/>
          </a:solidFill>
          <a:ln w="12700">
            <a:solidFill>
              <a:srgbClr val="3340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961120" y="2011680"/>
            <a:ext cx="24688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EF4444"/>
                </a:solidFill>
                <a:latin typeface="Calibri"/>
              </a:defRPr>
            </a:pPr>
            <a:r>
              <a:t>#1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961120" y="2743200"/>
            <a:ext cx="2468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94A3B8"/>
                </a:solidFill>
                <a:latin typeface="Calibri"/>
              </a:defRPr>
            </a:pPr>
            <a:r>
              <a:t>confirmation bias:</a:t>
            </a:r>
            <a:br/>
            <a:r>
              <a:t>reviewer = writer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31520" y="3657600"/>
            <a:ext cx="5120640" cy="2743200"/>
          </a:xfrm>
          <a:prstGeom prst="rect">
            <a:avLst/>
          </a:prstGeom>
          <a:solidFill>
            <a:srgbClr val="1A253C"/>
          </a:solidFill>
          <a:ln w="12700">
            <a:solidFill>
              <a:srgbClr val="3340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31520" y="3657600"/>
            <a:ext cx="50800" cy="2743200"/>
          </a:xfrm>
          <a:prstGeom prst="rect">
            <a:avLst/>
          </a:prstGeom>
          <a:solidFill>
            <a:srgbClr val="EF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05840" y="3794760"/>
            <a:ext cx="4663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EF4444"/>
                </a:solidFill>
                <a:latin typeface="Calibri"/>
              </a:defRPr>
            </a:pPr>
            <a:r>
              <a:t>What's happening today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05840" y="4206240"/>
            <a:ext cx="466344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>
                <a:solidFill>
                  <a:srgbClr val="CBD5E1"/>
                </a:solidFill>
                <a:latin typeface="Calibri"/>
              </a:defRPr>
            </a:pPr>
            <a:r>
              <a:t>Developers accept AI output with minimal verification</a:t>
            </a:r>
          </a:p>
          <a:p>
            <a:pPr>
              <a:spcAft>
                <a:spcPts val="600"/>
              </a:spcAft>
              <a:defRPr sz="1500">
                <a:solidFill>
                  <a:srgbClr val="CBD5E1"/>
                </a:solidFill>
                <a:latin typeface="Calibri"/>
              </a:defRPr>
            </a:pPr>
            <a:r>
              <a:t>The same AI agent writes and reviews its own code</a:t>
            </a:r>
          </a:p>
          <a:p>
            <a:pPr>
              <a:spcAft>
                <a:spcPts val="600"/>
              </a:spcAft>
              <a:defRPr sz="1500">
                <a:solidFill>
                  <a:srgbClr val="CBD5E1"/>
                </a:solidFill>
                <a:latin typeface="Calibri"/>
              </a:defRPr>
            </a:pPr>
            <a:r>
              <a:t>Edge cases (null, empty, boundaries) are systematically missed</a:t>
            </a:r>
          </a:p>
          <a:p>
            <a:pPr>
              <a:spcAft>
                <a:spcPts val="600"/>
              </a:spcAft>
              <a:defRPr sz="1500">
                <a:solidFill>
                  <a:srgbClr val="CBD5E1"/>
                </a:solidFill>
                <a:latin typeface="Calibri"/>
              </a:defRPr>
            </a:pPr>
            <a:r>
              <a:t>Security vulnerabilities pass undetected (injection, XSS, auth bypass)</a:t>
            </a:r>
          </a:p>
          <a:p>
            <a:pPr>
              <a:spcAft>
                <a:spcPts val="600"/>
              </a:spcAft>
              <a:defRPr sz="1500">
                <a:solidFill>
                  <a:srgbClr val="CBD5E1"/>
                </a:solidFill>
                <a:latin typeface="Calibri"/>
              </a:defRPr>
            </a:pPr>
            <a:r>
              <a:t>Solved problems are re-solved from scratch every session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217920" y="3657600"/>
            <a:ext cx="5120640" cy="2743200"/>
          </a:xfrm>
          <a:prstGeom prst="rect">
            <a:avLst/>
          </a:prstGeom>
          <a:solidFill>
            <a:srgbClr val="1A253C"/>
          </a:solidFill>
          <a:ln w="12700">
            <a:solidFill>
              <a:srgbClr val="3340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217920" y="3657600"/>
            <a:ext cx="50800" cy="274320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92240" y="3794760"/>
            <a:ext cx="4663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59E0B"/>
                </a:solidFill>
                <a:latin typeface="Calibri"/>
              </a:defRPr>
            </a:pPr>
            <a:r>
              <a:t>Business impact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92240" y="4206240"/>
            <a:ext cx="466344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>
                <a:solidFill>
                  <a:srgbClr val="CBD5E1"/>
                </a:solidFill>
                <a:latin typeface="Calibri"/>
              </a:defRPr>
            </a:pPr>
            <a:r>
              <a:t>Production incidents from unreviewed AI code</a:t>
            </a:r>
          </a:p>
          <a:p>
            <a:pPr>
              <a:spcAft>
                <a:spcPts val="600"/>
              </a:spcAft>
              <a:defRPr sz="1500">
                <a:solidFill>
                  <a:srgbClr val="CBD5E1"/>
                </a:solidFill>
                <a:latin typeface="Calibri"/>
              </a:defRPr>
            </a:pPr>
            <a:r>
              <a:t>Security exposure from missed vulnerabilities</a:t>
            </a:r>
          </a:p>
          <a:p>
            <a:pPr>
              <a:spcAft>
                <a:spcPts val="600"/>
              </a:spcAft>
              <a:defRPr sz="1500">
                <a:solidFill>
                  <a:srgbClr val="CBD5E1"/>
                </a:solidFill>
                <a:latin typeface="Calibri"/>
              </a:defRPr>
            </a:pPr>
            <a:r>
              <a:t>Duplicated engineering effort across teams</a:t>
            </a:r>
          </a:p>
          <a:p>
            <a:pPr>
              <a:spcAft>
                <a:spcPts val="600"/>
              </a:spcAft>
              <a:defRPr sz="1500">
                <a:solidFill>
                  <a:srgbClr val="CBD5E1"/>
                </a:solidFill>
                <a:latin typeface="Calibri"/>
              </a:defRPr>
            </a:pPr>
            <a:r>
              <a:t>No audit trail for AI-assisted development</a:t>
            </a:r>
          </a:p>
          <a:p>
            <a:pPr>
              <a:spcAft>
                <a:spcPts val="600"/>
              </a:spcAft>
              <a:defRPr sz="1500">
                <a:solidFill>
                  <a:srgbClr val="CBD5E1"/>
                </a:solidFill>
                <a:latin typeface="Calibri"/>
              </a:defRPr>
            </a:pPr>
            <a:r>
              <a:t>Growing technical debt from unchecked AI output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800"/>
          </a:xfrm>
          <a:prstGeom prst="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Calibri"/>
              </a:defRPr>
            </a:pPr>
            <a:r>
              <a:t>Anthropic's Official Recommendation: EPCC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0584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94A3B8"/>
                </a:solidFill>
                <a:latin typeface="Calibri"/>
              </a:defRPr>
            </a:pPr>
            <a:r>
              <a:t>The foundation we build on — Explore, Plan, Code, Commit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828800"/>
            <a:ext cx="2560320" cy="1645920"/>
          </a:xfrm>
          <a:prstGeom prst="rect">
            <a:avLst/>
          </a:prstGeom>
          <a:solidFill>
            <a:srgbClr val="1A253C"/>
          </a:solidFill>
          <a:ln w="25400">
            <a:solidFill>
              <a:srgbClr val="3B82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96596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3B82F6"/>
                </a:solidFill>
                <a:latin typeface="Calibri"/>
              </a:defRPr>
            </a:pPr>
            <a:r>
              <a:t>Explore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514600"/>
            <a:ext cx="21945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CBD5E1"/>
                </a:solidFill>
                <a:latin typeface="Calibri"/>
              </a:defRPr>
            </a:pPr>
            <a:r>
              <a:t>Read files, understand</a:t>
            </a:r>
            <a:br/>
            <a:r>
              <a:t>codebase, ask questions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46120" y="2331720"/>
            <a:ext cx="365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0">
                <a:solidFill>
                  <a:srgbClr val="94A3B8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9" name="Rectangle 8"/>
          <p:cNvSpPr/>
          <p:nvPr/>
        </p:nvSpPr>
        <p:spPr>
          <a:xfrm>
            <a:off x="3566160" y="1828800"/>
            <a:ext cx="2560320" cy="1645920"/>
          </a:xfrm>
          <a:prstGeom prst="rect">
            <a:avLst/>
          </a:prstGeom>
          <a:solidFill>
            <a:srgbClr val="1A253C"/>
          </a:solidFill>
          <a:ln w="25400">
            <a:solidFill>
              <a:srgbClr val="8B5C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566160" y="196596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8B5CF6"/>
                </a:solidFill>
                <a:latin typeface="Calibri"/>
              </a:defRPr>
            </a:pPr>
            <a:r>
              <a:t>Plan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749040" y="2514600"/>
            <a:ext cx="21945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CBD5E1"/>
                </a:solidFill>
                <a:latin typeface="Calibri"/>
              </a:defRPr>
            </a:pPr>
            <a:r>
              <a:t>Create implementation</a:t>
            </a:r>
            <a:br/>
            <a:r>
              <a:t>plan in Plan Mode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080760" y="2331720"/>
            <a:ext cx="365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0">
                <a:solidFill>
                  <a:srgbClr val="94A3B8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00800" y="1828800"/>
            <a:ext cx="2560320" cy="1645920"/>
          </a:xfrm>
          <a:prstGeom prst="rect">
            <a:avLst/>
          </a:prstGeom>
          <a:solidFill>
            <a:srgbClr val="1A253C"/>
          </a:solidFill>
          <a:ln w="25400">
            <a:solidFill>
              <a:srgbClr val="10B9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0" y="196596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10B981"/>
                </a:solidFill>
                <a:latin typeface="Calibri"/>
              </a:defRPr>
            </a:pPr>
            <a:r>
              <a:t>Code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83680" y="2514600"/>
            <a:ext cx="21945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CBD5E1"/>
                </a:solidFill>
                <a:latin typeface="Calibri"/>
              </a:defRPr>
            </a:pPr>
            <a:r>
              <a:t>Implement with tests,</a:t>
            </a:r>
            <a:br/>
            <a:r>
              <a:t>verify against plan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915400" y="2331720"/>
            <a:ext cx="365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0">
                <a:solidFill>
                  <a:srgbClr val="94A3B8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235440" y="1828800"/>
            <a:ext cx="2560320" cy="1645920"/>
          </a:xfrm>
          <a:prstGeom prst="rect">
            <a:avLst/>
          </a:prstGeom>
          <a:solidFill>
            <a:srgbClr val="1A253C"/>
          </a:solidFill>
          <a:ln w="25400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235440" y="196596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F59E0B"/>
                </a:solidFill>
                <a:latin typeface="Calibri"/>
              </a:defRPr>
            </a:pPr>
            <a:r>
              <a:t>Commit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418320" y="2514600"/>
            <a:ext cx="21945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CBD5E1"/>
                </a:solidFill>
                <a:latin typeface="Calibri"/>
              </a:defRPr>
            </a:pPr>
            <a:r>
              <a:t>Commit, create PR,</a:t>
            </a:r>
            <a:br/>
            <a:r>
              <a:t>ship to production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" y="39319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59E0B"/>
                </a:solidFill>
                <a:latin typeface="Calibri"/>
              </a:defRPr>
            </a:pPr>
            <a:r>
              <a:t>Where EPCC leaves decisions to the developer: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97280" y="457200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EF4444"/>
                </a:solidFill>
                <a:latin typeface="Calibri"/>
              </a:defRPr>
            </a:pPr>
            <a:r>
              <a:t>Code Review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383280" y="4572000"/>
            <a:ext cx="7772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4A3B8"/>
                </a:solidFill>
                <a:latin typeface="Calibri"/>
              </a:defRPr>
            </a:pPr>
            <a:r>
              <a:t>Manual — user opens a second session and reviews themselves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97280" y="498348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EF4444"/>
                </a:solidFill>
                <a:latin typeface="Calibri"/>
              </a:defRPr>
            </a:pPr>
            <a:r>
              <a:t>Knowledge Retention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383280" y="4983480"/>
            <a:ext cx="7772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4A3B8"/>
                </a:solidFill>
                <a:latin typeface="Calibri"/>
              </a:defRPr>
            </a:pPr>
            <a:r>
              <a:t>None built-in — learnings don't carry across sessions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97280" y="539496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EF4444"/>
                </a:solidFill>
                <a:latin typeface="Calibri"/>
              </a:defRPr>
            </a:pPr>
            <a:r>
              <a:t>Autonomous Execution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383280" y="5394960"/>
            <a:ext cx="7772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4A3B8"/>
                </a:solidFill>
                <a:latin typeface="Calibri"/>
              </a:defRPr>
            </a:pPr>
            <a:r>
              <a:t>'Skip permissions in a sandbox' — no orchestration or review gates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97280" y="580644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59E0B"/>
                </a:solidFill>
                <a:latin typeface="Calibri"/>
              </a:defRPr>
            </a:pPr>
            <a:r>
              <a:t>Security Verification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383280" y="5806440"/>
            <a:ext cx="7772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4A3B8"/>
                </a:solidFill>
                <a:latin typeface="Calibri"/>
              </a:defRPr>
            </a:pPr>
            <a:r>
              <a:t>Trust the developer to verify — no automated scanning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97280" y="621792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59E0B"/>
                </a:solidFill>
                <a:latin typeface="Calibri"/>
              </a:defRPr>
            </a:pPr>
            <a:r>
              <a:t>Failure Recovery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383280" y="6217920"/>
            <a:ext cx="7772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4A3B8"/>
                </a:solidFill>
                <a:latin typeface="Calibri"/>
              </a:defRPr>
            </a:pPr>
            <a:r>
              <a:t>Git checkpoints only — no structured decision framework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8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Calibri"/>
              </a:defRPr>
            </a:pPr>
            <a:r>
              <a:t>Three Extensions That Close the Gaps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0584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94A3B8"/>
                </a:solidFill>
                <a:latin typeface="Calibri"/>
              </a:defRPr>
            </a:pPr>
            <a:r>
              <a:t>We follow EPCC. We've added three capabilities Anthropic leaves to the user.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828800"/>
            <a:ext cx="3566160" cy="4572000"/>
          </a:xfrm>
          <a:prstGeom prst="rect">
            <a:avLst/>
          </a:prstGeom>
          <a:solidFill>
            <a:srgbClr val="1A253C"/>
          </a:solidFill>
          <a:ln w="12700">
            <a:solidFill>
              <a:srgbClr val="3340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828800"/>
            <a:ext cx="50800" cy="4572000"/>
          </a:xfrm>
          <a:prstGeom prst="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965960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3B82F6"/>
                </a:solidFill>
                <a:latin typeface="Calibri"/>
              </a:defRPr>
            </a:pPr>
            <a:r>
              <a:t>1. Automated Multi-Agent Review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377440"/>
            <a:ext cx="310896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CBD5E1"/>
                </a:solidFill>
                <a:latin typeface="Calibri"/>
              </a:defRPr>
            </a:pPr>
            <a:r>
              <a:t>12 specialized review agents</a:t>
            </a:r>
          </a:p>
          <a:p>
            <a:pPr>
              <a:spcAft>
                <a:spcPts val="600"/>
              </a:spcAft>
              <a:defRPr sz="1400">
                <a:solidFill>
                  <a:srgbClr val="CBD5E1"/>
                </a:solidFill>
                <a:latin typeface="Calibri"/>
              </a:defRPr>
            </a:pPr>
            <a:r>
              <a:t>Zero conversation context (fresh eyes)</a:t>
            </a:r>
          </a:p>
          <a:p>
            <a:pPr>
              <a:spcAft>
                <a:spcPts val="600"/>
              </a:spcAft>
              <a:defRPr sz="1400">
                <a:solidFill>
                  <a:srgbClr val="CBD5E1"/>
                </a:solidFill>
                <a:latin typeface="Calibri"/>
              </a:defRPr>
            </a:pPr>
            <a:r>
              <a:t>Eliminates confirmation bias</a:t>
            </a:r>
          </a:p>
          <a:p>
            <a:pPr>
              <a:spcAft>
                <a:spcPts val="600"/>
              </a:spcAft>
              <a:defRPr sz="1400">
                <a:solidFill>
                  <a:srgbClr val="CBD5E1"/>
                </a:solidFill>
                <a:latin typeface="Calibri"/>
              </a:defRPr>
            </a:pPr>
            <a:r>
              <a:t>Smart selection: only relevant agents activate</a:t>
            </a:r>
          </a:p>
          <a:p>
            <a:pPr>
              <a:spcAft>
                <a:spcPts val="600"/>
              </a:spcAft>
              <a:defRPr sz="1400">
                <a:solidFill>
                  <a:srgbClr val="CBD5E1"/>
                </a:solidFill>
                <a:latin typeface="Calibri"/>
              </a:defRPr>
            </a:pPr>
            <a:r>
              <a:t>Security, edge cases, performance, API contracts</a:t>
            </a:r>
          </a:p>
          <a:p>
            <a:pPr>
              <a:spcAft>
                <a:spcPts val="600"/>
              </a:spcAft>
              <a:defRPr sz="1400">
                <a:solidFill>
                  <a:srgbClr val="CBD5E1"/>
                </a:solidFill>
                <a:latin typeface="Calibri"/>
              </a:defRPr>
            </a:pPr>
            <a:r>
              <a:t>Supervisor consolidates + Adversarial Validator challenges</a:t>
            </a:r>
          </a:p>
          <a:p>
            <a:pPr>
              <a:spcAft>
                <a:spcPts val="600"/>
              </a:spcAft>
              <a:defRPr sz="1400">
                <a:solidFill>
                  <a:srgbClr val="CBD5E1"/>
                </a:solidFill>
                <a:latin typeface="Calibri"/>
              </a:defRPr>
            </a:pPr>
            <a:r>
              <a:t>Verdicts: BLOCK / FIX / APPROVED</a:t>
            </a:r>
          </a:p>
        </p:txBody>
      </p:sp>
      <p:sp>
        <p:nvSpPr>
          <p:cNvPr id="9" name="Rectangle 8"/>
          <p:cNvSpPr/>
          <p:nvPr/>
        </p:nvSpPr>
        <p:spPr>
          <a:xfrm>
            <a:off x="4297680" y="1828800"/>
            <a:ext cx="3566160" cy="4572000"/>
          </a:xfrm>
          <a:prstGeom prst="rect">
            <a:avLst/>
          </a:prstGeom>
          <a:solidFill>
            <a:srgbClr val="1A253C"/>
          </a:solidFill>
          <a:ln w="12700">
            <a:solidFill>
              <a:srgbClr val="3340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297680" y="1828800"/>
            <a:ext cx="50800" cy="45720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0" y="1965960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0B981"/>
                </a:solidFill>
                <a:latin typeface="Calibri"/>
              </a:defRPr>
            </a:pPr>
            <a:r>
              <a:t>2. Knowledge Compounding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0" y="2377440"/>
            <a:ext cx="310896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CBD5E1"/>
                </a:solidFill>
                <a:latin typeface="Calibri"/>
              </a:defRPr>
            </a:pPr>
            <a:r>
              <a:t>Solved problems captured as searchable docs</a:t>
            </a:r>
          </a:p>
          <a:p>
            <a:pPr>
              <a:spcAft>
                <a:spcPts val="600"/>
              </a:spcAft>
              <a:defRPr sz="1400">
                <a:solidFill>
                  <a:srgbClr val="CBD5E1"/>
                </a:solidFill>
                <a:latin typeface="Calibri"/>
              </a:defRPr>
            </a:pPr>
            <a:r>
              <a:t>YAML frontmatter: module, symptoms, root cause</a:t>
            </a:r>
          </a:p>
          <a:p>
            <a:pPr>
              <a:spcAft>
                <a:spcPts val="600"/>
              </a:spcAft>
              <a:defRPr sz="1400">
                <a:solidFill>
                  <a:srgbClr val="CBD5E1"/>
                </a:solidFill>
                <a:latin typeface="Calibri"/>
              </a:defRPr>
            </a:pPr>
            <a:r>
              <a:t>Auto-retrieved in future planning sessions</a:t>
            </a:r>
          </a:p>
          <a:p>
            <a:pPr>
              <a:spcAft>
                <a:spcPts val="600"/>
              </a:spcAft>
              <a:defRPr sz="1400">
                <a:solidFill>
                  <a:srgbClr val="CBD5E1"/>
                </a:solidFill>
                <a:latin typeface="Calibri"/>
              </a:defRPr>
            </a:pPr>
            <a:r>
              <a:t>Multi-pass search: tags → module → symptoms</a:t>
            </a:r>
          </a:p>
          <a:p>
            <a:pPr>
              <a:spcAft>
                <a:spcPts val="600"/>
              </a:spcAft>
              <a:defRPr sz="1400">
                <a:solidFill>
                  <a:srgbClr val="CBD5E1"/>
                </a:solidFill>
                <a:latin typeface="Calibri"/>
              </a:defRPr>
            </a:pPr>
            <a:r>
              <a:t>Same bug is never solved twice</a:t>
            </a:r>
          </a:p>
          <a:p>
            <a:pPr>
              <a:spcAft>
                <a:spcPts val="600"/>
              </a:spcAft>
              <a:defRPr sz="1400">
                <a:solidFill>
                  <a:srgbClr val="CBD5E1"/>
                </a:solidFill>
                <a:latin typeface="Calibri"/>
              </a:defRPr>
            </a:pPr>
            <a:r>
              <a:t>Onboarding accelerator for new engineers</a:t>
            </a:r>
          </a:p>
          <a:p>
            <a:pPr>
              <a:spcAft>
                <a:spcPts val="600"/>
              </a:spcAft>
              <a:defRPr sz="1400">
                <a:solidFill>
                  <a:srgbClr val="CBD5E1"/>
                </a:solidFill>
                <a:latin typeface="Calibri"/>
              </a:defRPr>
            </a:pPr>
            <a:r>
              <a:t>Institutional knowledge survives turnover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138160" y="1828800"/>
            <a:ext cx="3566160" cy="4572000"/>
          </a:xfrm>
          <a:prstGeom prst="rect">
            <a:avLst/>
          </a:prstGeom>
          <a:solidFill>
            <a:srgbClr val="1A253C"/>
          </a:solidFill>
          <a:ln w="12700">
            <a:solidFill>
              <a:srgbClr val="3340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138160" y="1828800"/>
            <a:ext cx="50800" cy="4572000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412480" y="1965960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8B5CF6"/>
                </a:solidFill>
                <a:latin typeface="Calibri"/>
              </a:defRPr>
            </a:pPr>
            <a:r>
              <a:t>3. Controlled Autonomy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12480" y="2377440"/>
            <a:ext cx="310896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CBD5E1"/>
                </a:solidFill>
                <a:latin typeface="Calibri"/>
              </a:defRPr>
            </a:pPr>
            <a:r>
              <a:t>Autonomous loop with mandatory review gates</a:t>
            </a:r>
          </a:p>
          <a:p>
            <a:pPr>
              <a:spcAft>
                <a:spcPts val="600"/>
              </a:spcAft>
              <a:defRPr sz="1400">
                <a:solidFill>
                  <a:srgbClr val="CBD5E1"/>
                </a:solidFill>
                <a:latin typeface="Calibri"/>
              </a:defRPr>
            </a:pPr>
            <a:r>
              <a:t>One task per subagent = fresh context each time</a:t>
            </a:r>
          </a:p>
          <a:p>
            <a:pPr>
              <a:spcAft>
                <a:spcPts val="600"/>
              </a:spcAft>
              <a:defRPr sz="1400">
                <a:solidFill>
                  <a:srgbClr val="CBD5E1"/>
                </a:solidFill>
                <a:latin typeface="Calibri"/>
              </a:defRPr>
            </a:pPr>
            <a:r>
              <a:t>Multi-round review-fix cycles (up to 3 rounds)</a:t>
            </a:r>
          </a:p>
          <a:p>
            <a:pPr>
              <a:spcAft>
                <a:spcPts val="600"/>
              </a:spcAft>
              <a:defRPr sz="1400">
                <a:solidFill>
                  <a:srgbClr val="CBD5E1"/>
                </a:solidFill>
                <a:latin typeface="Calibri"/>
              </a:defRPr>
            </a:pPr>
            <a:r>
              <a:t>Mandatory human approval gates</a:t>
            </a:r>
          </a:p>
          <a:p>
            <a:pPr>
              <a:spcAft>
                <a:spcPts val="600"/>
              </a:spcAft>
              <a:defRPr sz="1400">
                <a:solidFill>
                  <a:srgbClr val="CBD5E1"/>
                </a:solidFill>
                <a:latin typeface="Calibri"/>
              </a:defRPr>
            </a:pPr>
            <a:r>
              <a:t>Cancellable and resumable at any point</a:t>
            </a:r>
          </a:p>
          <a:p>
            <a:pPr>
              <a:spcAft>
                <a:spcPts val="600"/>
              </a:spcAft>
              <a:defRPr sz="1400">
                <a:solidFill>
                  <a:srgbClr val="CBD5E1"/>
                </a:solidFill>
                <a:latin typeface="Calibri"/>
              </a:defRPr>
            </a:pPr>
            <a:r>
              <a:t>Not 'AI running wild' — supervised automation</a:t>
            </a:r>
          </a:p>
          <a:p>
            <a:pPr>
              <a:spcAft>
                <a:spcPts val="600"/>
              </a:spcAft>
              <a:defRPr sz="1400">
                <a:solidFill>
                  <a:srgbClr val="CBD5E1"/>
                </a:solidFill>
                <a:latin typeface="Calibri"/>
              </a:defRPr>
            </a:pPr>
            <a:r>
              <a:t>10x throughput on well-scoped work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800"/>
          </a:xfrm>
          <a:prstGeom prst="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Calibri"/>
              </a:defRPr>
            </a:pPr>
            <a:r>
              <a:t>Pillar 1: Fresh Eyes Review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0584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94A3B8"/>
                </a:solidFill>
                <a:latin typeface="Calibri"/>
              </a:defRPr>
            </a:pPr>
            <a:r>
              <a:t>Review agents see ONLY the code diff — zero context from the writing session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828800"/>
            <a:ext cx="2103120" cy="2011680"/>
          </a:xfrm>
          <a:prstGeom prst="rect">
            <a:avLst/>
          </a:prstGeom>
          <a:solidFill>
            <a:srgbClr val="1A253C"/>
          </a:solidFill>
          <a:ln w="25400">
            <a:solidFill>
              <a:srgbClr val="3B82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92024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3B82F6"/>
                </a:solidFill>
                <a:latin typeface="Calibri"/>
              </a:defRPr>
            </a:pPr>
            <a:r>
              <a:t>Diff Analysis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2331720"/>
            <a:ext cx="1828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CBD5E1"/>
                </a:solidFill>
                <a:latin typeface="Calibri"/>
              </a:defRPr>
            </a:pPr>
            <a:r>
              <a:t>Smart Selection</a:t>
            </a:r>
            <a:br/>
            <a:r>
              <a:t>algorithm analyzes</a:t>
            </a:r>
            <a:br/>
            <a:r>
              <a:t>code changes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468880" y="246888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>
                <a:solidFill>
                  <a:srgbClr val="94A3B8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9" name="Rectangle 8"/>
          <p:cNvSpPr/>
          <p:nvPr/>
        </p:nvSpPr>
        <p:spPr>
          <a:xfrm>
            <a:off x="2788920" y="1828800"/>
            <a:ext cx="2103120" cy="2011680"/>
          </a:xfrm>
          <a:prstGeom prst="rect">
            <a:avLst/>
          </a:prstGeom>
          <a:solidFill>
            <a:srgbClr val="1A253C"/>
          </a:solidFill>
          <a:ln w="25400">
            <a:solidFill>
              <a:srgbClr val="8B5C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788920" y="192024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8B5CF6"/>
                </a:solidFill>
                <a:latin typeface="Calibri"/>
              </a:defRPr>
            </a:pPr>
            <a:r>
              <a:t>Agent Activation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926080" y="2331720"/>
            <a:ext cx="1828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CBD5E1"/>
                </a:solidFill>
                <a:latin typeface="Calibri"/>
              </a:defRPr>
            </a:pPr>
            <a:r>
              <a:t>Only relevant agents</a:t>
            </a:r>
            <a:br/>
            <a:r>
              <a:t>activated based on</a:t>
            </a:r>
            <a:br/>
            <a:r>
              <a:t>trigger patterns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800600" y="246888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>
                <a:solidFill>
                  <a:srgbClr val="94A3B8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120640" y="1828800"/>
            <a:ext cx="2103120" cy="2011680"/>
          </a:xfrm>
          <a:prstGeom prst="rect">
            <a:avLst/>
          </a:prstGeom>
          <a:solidFill>
            <a:srgbClr val="1A253C"/>
          </a:solidFill>
          <a:ln w="25400">
            <a:solidFill>
              <a:srgbClr val="10B9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120640" y="192024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10B981"/>
                </a:solidFill>
                <a:latin typeface="Calibri"/>
              </a:defRPr>
            </a:pPr>
            <a:r>
              <a:t>Parallel Review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257800" y="2331720"/>
            <a:ext cx="1828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CBD5E1"/>
                </a:solidFill>
                <a:latin typeface="Calibri"/>
              </a:defRPr>
            </a:pPr>
            <a:r>
              <a:t>All specialists run</a:t>
            </a:r>
            <a:br/>
            <a:r>
              <a:t>in parallel with</a:t>
            </a:r>
            <a:br/>
            <a:r>
              <a:t>zero shared context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32320" y="246888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>
                <a:solidFill>
                  <a:srgbClr val="94A3B8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452359" y="1828800"/>
            <a:ext cx="2103120" cy="2011680"/>
          </a:xfrm>
          <a:prstGeom prst="rect">
            <a:avLst/>
          </a:prstGeom>
          <a:solidFill>
            <a:srgbClr val="1A253C"/>
          </a:solidFill>
          <a:ln w="25400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452359" y="192024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F59E0B"/>
                </a:solidFill>
                <a:latin typeface="Calibri"/>
              </a:defRPr>
            </a:pPr>
            <a:r>
              <a:t>Consolidation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589519" y="2331720"/>
            <a:ext cx="1828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CBD5E1"/>
                </a:solidFill>
                <a:latin typeface="Calibri"/>
              </a:defRPr>
            </a:pPr>
            <a:r>
              <a:t>Supervisor deduplicates</a:t>
            </a:r>
            <a:br/>
            <a:r>
              <a:t>and prioritizes</a:t>
            </a:r>
            <a:br/>
            <a:r>
              <a:t>findings by severity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464039" y="246888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>
                <a:solidFill>
                  <a:srgbClr val="94A3B8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784080" y="1828800"/>
            <a:ext cx="2103120" cy="2011680"/>
          </a:xfrm>
          <a:prstGeom prst="rect">
            <a:avLst/>
          </a:prstGeom>
          <a:solidFill>
            <a:srgbClr val="1A253C"/>
          </a:solidFill>
          <a:ln w="25400">
            <a:solidFill>
              <a:srgbClr val="EF44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784080" y="192024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EF4444"/>
                </a:solidFill>
                <a:latin typeface="Calibri"/>
              </a:defRPr>
            </a:pPr>
            <a:r>
              <a:t>Validation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921240" y="2331720"/>
            <a:ext cx="1828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CBD5E1"/>
                </a:solidFill>
                <a:latin typeface="Calibri"/>
              </a:defRPr>
            </a:pPr>
            <a:r>
              <a:t>Adversarial Validator</a:t>
            </a:r>
            <a:br/>
            <a:r>
              <a:t>challenges claims,</a:t>
            </a:r>
            <a:br/>
            <a:r>
              <a:t>demands evidence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1520" y="41148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3B82F6"/>
                </a:solidFill>
                <a:latin typeface="Calibri"/>
              </a:defRPr>
            </a:pPr>
            <a:r>
              <a:t>Always-On Core Agents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31520" y="4572000"/>
            <a:ext cx="45720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CBD5E1"/>
                </a:solidFill>
                <a:latin typeface="Calibri"/>
              </a:defRPr>
            </a:pPr>
            <a:r>
              <a:t>Security Reviewer (OWASP Top 10)</a:t>
            </a:r>
          </a:p>
          <a:p>
            <a:pPr>
              <a:spcAft>
                <a:spcPts val="800"/>
              </a:spcAft>
              <a:defRPr sz="1400">
                <a:solidFill>
                  <a:srgbClr val="CBD5E1"/>
                </a:solidFill>
                <a:latin typeface="Calibri"/>
              </a:defRPr>
            </a:pPr>
            <a:r>
              <a:t>Code Quality Reviewer (SOLID, DRY, naming)</a:t>
            </a:r>
          </a:p>
          <a:p>
            <a:pPr>
              <a:spcAft>
                <a:spcPts val="800"/>
              </a:spcAft>
              <a:defRPr sz="1400">
                <a:solidFill>
                  <a:srgbClr val="CBD5E1"/>
                </a:solidFill>
                <a:latin typeface="Calibri"/>
              </a:defRPr>
            </a:pPr>
            <a:r>
              <a:t>Edge Case Reviewer (null, empty, boundaries)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943600" y="411480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8B5CF6"/>
                </a:solidFill>
                <a:latin typeface="Calibri"/>
              </a:defRPr>
            </a:pPr>
            <a:r>
              <a:t>Conditional Agents (activated by diff patterns)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943600" y="4572000"/>
            <a:ext cx="54864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CBD5E1"/>
                </a:solidFill>
                <a:latin typeface="Calibri"/>
              </a:defRPr>
            </a:pPr>
            <a:r>
              <a:t>Performance — DB queries, N+1, pagination</a:t>
            </a:r>
          </a:p>
          <a:p>
            <a:pPr>
              <a:spcAft>
                <a:spcPts val="800"/>
              </a:spcAft>
              <a:defRPr sz="1400">
                <a:solidFill>
                  <a:srgbClr val="CBD5E1"/>
                </a:solidFill>
                <a:latin typeface="Calibri"/>
              </a:defRPr>
            </a:pPr>
            <a:r>
              <a:t>API Contract — REST design, status codes, versioning</a:t>
            </a:r>
          </a:p>
          <a:p>
            <a:pPr>
              <a:spcAft>
                <a:spcPts val="800"/>
              </a:spcAft>
              <a:defRPr sz="1400">
                <a:solidFill>
                  <a:srgbClr val="CBD5E1"/>
                </a:solidFill>
                <a:latin typeface="Calibri"/>
              </a:defRPr>
            </a:pPr>
            <a:r>
              <a:t>Concurrency — race conditions, deadlocks, atomics</a:t>
            </a:r>
          </a:p>
          <a:p>
            <a:pPr>
              <a:spcAft>
                <a:spcPts val="800"/>
              </a:spcAft>
              <a:defRPr sz="1400">
                <a:solidFill>
                  <a:srgbClr val="CBD5E1"/>
                </a:solidFill>
                <a:latin typeface="Calibri"/>
              </a:defRPr>
            </a:pPr>
            <a:r>
              <a:t>Error Handling — try/catch, retry logic, timeouts</a:t>
            </a:r>
          </a:p>
          <a:p>
            <a:pPr>
              <a:spcAft>
                <a:spcPts val="800"/>
              </a:spcAft>
              <a:defRPr sz="1400">
                <a:solidFill>
                  <a:srgbClr val="CBD5E1"/>
                </a:solidFill>
                <a:latin typeface="Calibri"/>
              </a:defRPr>
            </a:pPr>
            <a:r>
              <a:t>Testing Adequacy — coverage, assertions, mocks</a:t>
            </a:r>
          </a:p>
          <a:p>
            <a:pPr>
              <a:spcAft>
                <a:spcPts val="800"/>
              </a:spcAft>
              <a:defRPr sz="1400">
                <a:solidFill>
                  <a:srgbClr val="CBD5E1"/>
                </a:solidFill>
                <a:latin typeface="Calibri"/>
              </a:defRPr>
            </a:pPr>
            <a:r>
              <a:t>+ 5 more specialist agents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8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Calibri"/>
              </a:defRPr>
            </a:pPr>
            <a:r>
              <a:t>Pillar 2: Knowledge Compounding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0584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94A3B8"/>
                </a:solidFill>
                <a:latin typeface="Calibri"/>
              </a:defRPr>
            </a:pPr>
            <a:r>
              <a:t>Every solved problem becomes organizational knowledge that's automatically surfaced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828800"/>
            <a:ext cx="2651760" cy="1828800"/>
          </a:xfrm>
          <a:prstGeom prst="rect">
            <a:avLst/>
          </a:prstGeom>
          <a:solidFill>
            <a:srgbClr val="1A253C"/>
          </a:solidFill>
          <a:ln w="25400">
            <a:solidFill>
              <a:srgbClr val="EF44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920240"/>
            <a:ext cx="2651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700" b="1">
                <a:solidFill>
                  <a:srgbClr val="EF4444"/>
                </a:solidFill>
                <a:latin typeface="Calibri"/>
              </a:defRPr>
            </a:pPr>
            <a:r>
              <a:t>Problem Solved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331720"/>
            <a:ext cx="2286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CBD5E1"/>
                </a:solidFill>
                <a:latin typeface="Calibri"/>
              </a:defRPr>
            </a:pPr>
            <a:r>
              <a:t>Developer solves a tricky</a:t>
            </a:r>
            <a:br/>
            <a:r>
              <a:t>bug or discovers a pattern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017520" y="246888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>
                <a:solidFill>
                  <a:srgbClr val="94A3B8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9" name="Rectangle 8"/>
          <p:cNvSpPr/>
          <p:nvPr/>
        </p:nvSpPr>
        <p:spPr>
          <a:xfrm>
            <a:off x="3383280" y="1828800"/>
            <a:ext cx="2651760" cy="1828800"/>
          </a:xfrm>
          <a:prstGeom prst="rect">
            <a:avLst/>
          </a:prstGeom>
          <a:solidFill>
            <a:srgbClr val="1A253C"/>
          </a:solidFill>
          <a:ln w="25400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383280" y="1920240"/>
            <a:ext cx="2651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700" b="1">
                <a:solidFill>
                  <a:srgbClr val="F59E0B"/>
                </a:solidFill>
                <a:latin typeface="Calibri"/>
              </a:defRPr>
            </a:pPr>
            <a:r>
              <a:t>Auto-Capture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566160" y="2331720"/>
            <a:ext cx="2286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CBD5E1"/>
                </a:solidFill>
                <a:latin typeface="Calibri"/>
              </a:defRPr>
            </a:pPr>
            <a:r>
              <a:t>/learn detects solution</a:t>
            </a:r>
            <a:br/>
            <a:r>
              <a:t>and extracts structured data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0" y="246888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>
                <a:solidFill>
                  <a:srgbClr val="94A3B8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309360" y="1828800"/>
            <a:ext cx="2651760" cy="1828800"/>
          </a:xfrm>
          <a:prstGeom prst="rect">
            <a:avLst/>
          </a:prstGeom>
          <a:solidFill>
            <a:srgbClr val="1A253C"/>
          </a:solidFill>
          <a:ln w="25400">
            <a:solidFill>
              <a:srgbClr val="10B9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09360" y="1920240"/>
            <a:ext cx="2651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700" b="1">
                <a:solidFill>
                  <a:srgbClr val="10B981"/>
                </a:solidFill>
                <a:latin typeface="Calibri"/>
              </a:defRPr>
            </a:pPr>
            <a:r>
              <a:t>Indexed Storage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92240" y="2331720"/>
            <a:ext cx="2286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CBD5E1"/>
                </a:solidFill>
                <a:latin typeface="Calibri"/>
              </a:defRPr>
            </a:pPr>
            <a:r>
              <a:t>YAML frontmatter:</a:t>
            </a:r>
            <a:br/>
            <a:r>
              <a:t>module, symptoms,</a:t>
            </a:r>
            <a:br/>
            <a:r>
              <a:t>root cause, severity, tags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869680" y="246888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>
                <a:solidFill>
                  <a:srgbClr val="94A3B8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235440" y="1828800"/>
            <a:ext cx="2651760" cy="1828800"/>
          </a:xfrm>
          <a:prstGeom prst="rect">
            <a:avLst/>
          </a:prstGeom>
          <a:solidFill>
            <a:srgbClr val="1A253C"/>
          </a:solidFill>
          <a:ln w="25400">
            <a:solidFill>
              <a:srgbClr val="3B82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235440" y="1920240"/>
            <a:ext cx="2651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700" b="1">
                <a:solidFill>
                  <a:srgbClr val="3B82F6"/>
                </a:solidFill>
                <a:latin typeface="Calibri"/>
              </a:defRPr>
            </a:pPr>
            <a:r>
              <a:t>Auto-Retrieval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418320" y="2331720"/>
            <a:ext cx="2286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CBD5E1"/>
                </a:solidFill>
                <a:latin typeface="Calibri"/>
              </a:defRPr>
            </a:pPr>
            <a:r>
              <a:t>Future sessions search</a:t>
            </a:r>
            <a:br/>
            <a:r>
              <a:t>past solutions during</a:t>
            </a:r>
            <a:br/>
            <a:r>
              <a:t>planning &amp; implementation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7200" y="4114800"/>
            <a:ext cx="5303520" cy="2286000"/>
          </a:xfrm>
          <a:prstGeom prst="rect">
            <a:avLst/>
          </a:prstGeom>
          <a:solidFill>
            <a:srgbClr val="1A253C"/>
          </a:solidFill>
          <a:ln w="12700">
            <a:solidFill>
              <a:srgbClr val="3340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57200" y="4114800"/>
            <a:ext cx="50800" cy="2286000"/>
          </a:xfrm>
          <a:prstGeom prst="rect">
            <a:avLst/>
          </a:prstGeom>
          <a:solidFill>
            <a:srgbClr val="EF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31520" y="4251960"/>
            <a:ext cx="4846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EF4444"/>
                </a:solidFill>
                <a:latin typeface="Calibri"/>
              </a:defRPr>
            </a:pPr>
            <a:r>
              <a:t>Before: Knowledge Silos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1520" y="4663440"/>
            <a:ext cx="48463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CBD5E1"/>
                </a:solidFill>
                <a:latin typeface="Calibri"/>
              </a:defRPr>
            </a:pPr>
            <a:r>
              <a:t>Same bug solved 3x by different engineers</a:t>
            </a:r>
          </a:p>
          <a:p>
            <a:pPr>
              <a:spcAft>
                <a:spcPts val="600"/>
              </a:spcAft>
              <a:defRPr sz="1400">
                <a:solidFill>
                  <a:srgbClr val="CBD5E1"/>
                </a:solidFill>
                <a:latin typeface="Calibri"/>
              </a:defRPr>
            </a:pPr>
            <a:r>
              <a:t>Onboarding takes weeks of tribal knowledge transfer</a:t>
            </a:r>
          </a:p>
          <a:p>
            <a:pPr>
              <a:spcAft>
                <a:spcPts val="600"/>
              </a:spcAft>
              <a:defRPr sz="1400">
                <a:solidFill>
                  <a:srgbClr val="CBD5E1"/>
                </a:solidFill>
                <a:latin typeface="Calibri"/>
              </a:defRPr>
            </a:pPr>
            <a:r>
              <a:t>Solutions exist in Slack threads nobody can find</a:t>
            </a:r>
          </a:p>
          <a:p>
            <a:pPr>
              <a:spcAft>
                <a:spcPts val="600"/>
              </a:spcAft>
              <a:defRPr sz="1400">
                <a:solidFill>
                  <a:srgbClr val="CBD5E1"/>
                </a:solidFill>
                <a:latin typeface="Calibri"/>
              </a:defRPr>
            </a:pPr>
            <a:r>
              <a:t>AI agent starts every session with zero history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217920" y="4114800"/>
            <a:ext cx="5303520" cy="2286000"/>
          </a:xfrm>
          <a:prstGeom prst="rect">
            <a:avLst/>
          </a:prstGeom>
          <a:solidFill>
            <a:srgbClr val="1A253C"/>
          </a:solidFill>
          <a:ln w="12700">
            <a:solidFill>
              <a:srgbClr val="3340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217920" y="4114800"/>
            <a:ext cx="50800" cy="22860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92240" y="4251960"/>
            <a:ext cx="4846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0B981"/>
                </a:solidFill>
                <a:latin typeface="Calibri"/>
              </a:defRPr>
            </a:pPr>
            <a:r>
              <a:t>After: Compounding Intelligence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92240" y="4663440"/>
            <a:ext cx="48463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CBD5E1"/>
                </a:solidFill>
                <a:latin typeface="Calibri"/>
              </a:defRPr>
            </a:pPr>
            <a:r>
              <a:t>Every solution is searchable by module, symptom, or tag</a:t>
            </a:r>
          </a:p>
          <a:p>
            <a:pPr>
              <a:spcAft>
                <a:spcPts val="600"/>
              </a:spcAft>
              <a:defRPr sz="1400">
                <a:solidFill>
                  <a:srgbClr val="CBD5E1"/>
                </a:solidFill>
                <a:latin typeface="Calibri"/>
              </a:defRPr>
            </a:pPr>
            <a:r>
              <a:t>New engineer's AI assistant knows the team's history</a:t>
            </a:r>
          </a:p>
          <a:p>
            <a:pPr>
              <a:spcAft>
                <a:spcPts val="600"/>
              </a:spcAft>
              <a:defRPr sz="1400">
                <a:solidFill>
                  <a:srgbClr val="CBD5E1"/>
                </a:solidFill>
                <a:latin typeface="Calibri"/>
              </a:defRPr>
            </a:pPr>
            <a:r>
              <a:t>Multi-pass search finds related solutions automatically</a:t>
            </a:r>
          </a:p>
          <a:p>
            <a:pPr>
              <a:spcAft>
                <a:spcPts val="600"/>
              </a:spcAft>
              <a:defRPr sz="1400">
                <a:solidFill>
                  <a:srgbClr val="CBD5E1"/>
                </a:solidFill>
                <a:latin typeface="Calibri"/>
              </a:defRPr>
            </a:pPr>
            <a:r>
              <a:t>Organization gets smarter with every problem solved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800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Calibri"/>
              </a:defRPr>
            </a:pPr>
            <a:r>
              <a:t>The Developer Experience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0584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94A3B8"/>
                </a:solidFill>
                <a:latin typeface="Calibri"/>
              </a:defRPr>
            </a:pPr>
            <a:r>
              <a:t>7 commands. Scales to the task. No ceremony on simple changes.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828800"/>
            <a:ext cx="1737360" cy="1371600"/>
          </a:xfrm>
          <a:prstGeom prst="rect">
            <a:avLst/>
          </a:prstGeom>
          <a:solidFill>
            <a:srgbClr val="1A253C"/>
          </a:solidFill>
          <a:ln w="25400">
            <a:solidFill>
              <a:srgbClr val="3B82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920240"/>
            <a:ext cx="1737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700" b="1">
                <a:solidFill>
                  <a:srgbClr val="3B82F6"/>
                </a:solidFill>
                <a:latin typeface="Consolas"/>
              </a:defRPr>
            </a:pPr>
            <a:r>
              <a:t>/explore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331720"/>
            <a:ext cx="1554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CBD5E1"/>
                </a:solidFill>
                <a:latin typeface="Calibri"/>
              </a:defRPr>
            </a:pPr>
            <a:r>
              <a:t>Reconnaissance &amp;</a:t>
            </a:r>
            <a:br/>
            <a:r>
              <a:t>ideation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148840" y="2240280"/>
            <a:ext cx="274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94A3B8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9" name="Rectangle 8"/>
          <p:cNvSpPr/>
          <p:nvPr/>
        </p:nvSpPr>
        <p:spPr>
          <a:xfrm>
            <a:off x="2377440" y="1828800"/>
            <a:ext cx="1737360" cy="1371600"/>
          </a:xfrm>
          <a:prstGeom prst="rect">
            <a:avLst/>
          </a:prstGeom>
          <a:solidFill>
            <a:srgbClr val="1A253C"/>
          </a:solidFill>
          <a:ln w="25400">
            <a:solidFill>
              <a:srgbClr val="8B5C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377440" y="1920240"/>
            <a:ext cx="1737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700" b="1">
                <a:solidFill>
                  <a:srgbClr val="8B5CF6"/>
                </a:solidFill>
                <a:latin typeface="Consolas"/>
              </a:defRPr>
            </a:pPr>
            <a:r>
              <a:t>/plan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468880" y="2331720"/>
            <a:ext cx="1554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CBD5E1"/>
                </a:solidFill>
                <a:latin typeface="Calibri"/>
              </a:defRPr>
            </a:pPr>
            <a:r>
              <a:t>Planning &amp;</a:t>
            </a:r>
            <a:br/>
            <a:r>
              <a:t>requirements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069080" y="2240280"/>
            <a:ext cx="274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94A3B8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297680" y="1828800"/>
            <a:ext cx="1737360" cy="1371600"/>
          </a:xfrm>
          <a:prstGeom prst="rect">
            <a:avLst/>
          </a:prstGeom>
          <a:solidFill>
            <a:srgbClr val="1A253C"/>
          </a:solidFill>
          <a:ln w="25400">
            <a:solidFill>
              <a:srgbClr val="10B9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297680" y="1920240"/>
            <a:ext cx="1737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700" b="1">
                <a:solidFill>
                  <a:srgbClr val="10B981"/>
                </a:solidFill>
                <a:latin typeface="Consolas"/>
              </a:defRPr>
            </a:pPr>
            <a:r>
              <a:t>/implement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389120" y="2331720"/>
            <a:ext cx="1554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CBD5E1"/>
                </a:solidFill>
                <a:latin typeface="Calibri"/>
              </a:defRPr>
            </a:pPr>
            <a:r>
              <a:t>Build, test,</a:t>
            </a:r>
            <a:br/>
            <a:r>
              <a:t>validate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89320" y="2240280"/>
            <a:ext cx="274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94A3B8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217920" y="1828800"/>
            <a:ext cx="1737360" cy="1371600"/>
          </a:xfrm>
          <a:prstGeom prst="rect">
            <a:avLst/>
          </a:prstGeom>
          <a:solidFill>
            <a:srgbClr val="1A253C"/>
          </a:solidFill>
          <a:ln w="25400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217920" y="1920240"/>
            <a:ext cx="1737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700" b="1">
                <a:solidFill>
                  <a:srgbClr val="F59E0B"/>
                </a:solidFill>
                <a:latin typeface="Consolas"/>
              </a:defRPr>
            </a:pPr>
            <a:r>
              <a:t>/review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09360" y="2331720"/>
            <a:ext cx="1554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CBD5E1"/>
                </a:solidFill>
                <a:latin typeface="Calibri"/>
              </a:defRPr>
            </a:pPr>
            <a:r>
              <a:t>Fresh eyes</a:t>
            </a:r>
            <a:br/>
            <a:r>
              <a:t>multi-agent review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909560" y="2240280"/>
            <a:ext cx="274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94A3B8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138160" y="1828800"/>
            <a:ext cx="1737360" cy="1371600"/>
          </a:xfrm>
          <a:prstGeom prst="rect">
            <a:avLst/>
          </a:prstGeom>
          <a:solidFill>
            <a:srgbClr val="1A253C"/>
          </a:solidFill>
          <a:ln w="25400">
            <a:solidFill>
              <a:srgbClr val="10B9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138160" y="1920240"/>
            <a:ext cx="1737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700" b="1">
                <a:solidFill>
                  <a:srgbClr val="10B981"/>
                </a:solidFill>
                <a:latin typeface="Consolas"/>
              </a:defRPr>
            </a:pPr>
            <a:r>
              <a:t>/learn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29600" y="2331720"/>
            <a:ext cx="1554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CBD5E1"/>
                </a:solidFill>
                <a:latin typeface="Calibri"/>
              </a:defRPr>
            </a:pPr>
            <a:r>
              <a:t>Capture</a:t>
            </a:r>
            <a:br/>
            <a:r>
              <a:t>knowledge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829800" y="2240280"/>
            <a:ext cx="274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94A3B8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0058400" y="1828800"/>
            <a:ext cx="1737360" cy="1371600"/>
          </a:xfrm>
          <a:prstGeom prst="rect">
            <a:avLst/>
          </a:prstGeom>
          <a:solidFill>
            <a:srgbClr val="1A253C"/>
          </a:solidFill>
          <a:ln w="25400">
            <a:solidFill>
              <a:srgbClr val="3B82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0058400" y="1920240"/>
            <a:ext cx="1737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700" b="1">
                <a:solidFill>
                  <a:srgbClr val="3B82F6"/>
                </a:solidFill>
                <a:latin typeface="Consolas"/>
              </a:defRPr>
            </a:pPr>
            <a:r>
              <a:t>/ship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149840" y="2331720"/>
            <a:ext cx="1554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CBD5E1"/>
                </a:solidFill>
                <a:latin typeface="Calibri"/>
              </a:defRPr>
            </a:pPr>
            <a:r>
              <a:t>Commit, PR,</a:t>
            </a:r>
            <a:br/>
            <a:r>
              <a:t>finalize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31520" y="356616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59E0B"/>
                </a:solidFill>
                <a:latin typeface="Calibri"/>
              </a:defRPr>
            </a:pPr>
            <a:r>
              <a:t>Scales to Complexity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31520" y="4114800"/>
            <a:ext cx="10515600" cy="457200"/>
          </a:xfrm>
          <a:prstGeom prst="rect">
            <a:avLst/>
          </a:prstGeom>
          <a:solidFill>
            <a:srgbClr val="1A25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14400" y="416052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59E0B"/>
                </a:solidFill>
                <a:latin typeface="Calibri"/>
              </a:defRPr>
            </a:pPr>
            <a:r>
              <a:t>Typo / quick fix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926080" y="416052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BD5E1"/>
                </a:solidFill>
                <a:latin typeface="Consolas"/>
              </a:defRPr>
            </a:pPr>
            <a:r>
              <a:t>/implement → /review → /ship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686800" y="416052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300" b="0">
                <a:solidFill>
                  <a:srgbClr val="94A3B8"/>
                </a:solidFill>
                <a:latin typeface="Calibri"/>
              </a:defRPr>
            </a:pPr>
            <a:r>
              <a:t>3 steps, ~5 min</a:t>
            </a:r>
          </a:p>
        </p:txBody>
      </p:sp>
      <p:sp>
        <p:nvSpPr>
          <p:cNvPr id="33" name="Rectangle 32"/>
          <p:cNvSpPr/>
          <p:nvPr/>
        </p:nvSpPr>
        <p:spPr>
          <a:xfrm>
            <a:off x="731520" y="4663440"/>
            <a:ext cx="10515600" cy="457200"/>
          </a:xfrm>
          <a:prstGeom prst="rect">
            <a:avLst/>
          </a:prstGeom>
          <a:solidFill>
            <a:srgbClr val="1A25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14400" y="470916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59E0B"/>
                </a:solidFill>
                <a:latin typeface="Calibri"/>
              </a:defRPr>
            </a:pPr>
            <a:r>
              <a:t>Bug fix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926080" y="470916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BD5E1"/>
                </a:solidFill>
                <a:latin typeface="Consolas"/>
              </a:defRPr>
            </a:pPr>
            <a:r>
              <a:t>/explore → /implement → /review → /ship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686800" y="470916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300" b="0">
                <a:solidFill>
                  <a:srgbClr val="94A3B8"/>
                </a:solidFill>
                <a:latin typeface="Calibri"/>
              </a:defRPr>
            </a:pPr>
            <a:r>
              <a:t>4 steps, ~20 min</a:t>
            </a:r>
          </a:p>
        </p:txBody>
      </p:sp>
      <p:sp>
        <p:nvSpPr>
          <p:cNvPr id="37" name="Rectangle 36"/>
          <p:cNvSpPr/>
          <p:nvPr/>
        </p:nvSpPr>
        <p:spPr>
          <a:xfrm>
            <a:off x="731520" y="5212080"/>
            <a:ext cx="10515600" cy="457200"/>
          </a:xfrm>
          <a:prstGeom prst="rect">
            <a:avLst/>
          </a:prstGeom>
          <a:solidFill>
            <a:srgbClr val="1A25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14400" y="525780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59E0B"/>
                </a:solidFill>
                <a:latin typeface="Calibri"/>
              </a:defRPr>
            </a:pPr>
            <a:r>
              <a:t>New feature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2926080" y="525780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BD5E1"/>
                </a:solidFill>
                <a:latin typeface="Consolas"/>
              </a:defRPr>
            </a:pPr>
            <a:r>
              <a:t>/explore → /plan → /implement → /review → /learn → /ship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686800" y="525780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300" b="0">
                <a:solidFill>
                  <a:srgbClr val="94A3B8"/>
                </a:solidFill>
                <a:latin typeface="Calibri"/>
              </a:defRPr>
            </a:pPr>
            <a:r>
              <a:t>Full pipeline</a:t>
            </a:r>
          </a:p>
        </p:txBody>
      </p:sp>
      <p:sp>
        <p:nvSpPr>
          <p:cNvPr id="41" name="Rectangle 40"/>
          <p:cNvSpPr/>
          <p:nvPr/>
        </p:nvSpPr>
        <p:spPr>
          <a:xfrm>
            <a:off x="731520" y="5760720"/>
            <a:ext cx="10515600" cy="457200"/>
          </a:xfrm>
          <a:prstGeom prst="rect">
            <a:avLst/>
          </a:prstGeom>
          <a:solidFill>
            <a:srgbClr val="1A25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914400" y="580644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59E0B"/>
                </a:solidFill>
                <a:latin typeface="Calibri"/>
              </a:defRPr>
            </a:pPr>
            <a:r>
              <a:t>Autonomous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2926080" y="580644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BD5E1"/>
                </a:solidFill>
                <a:latin typeface="Consolas"/>
              </a:defRPr>
            </a:pPr>
            <a:r>
              <a:t>/loop — iterates plan tasks with review gates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686800" y="580644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300" b="0">
                <a:solidFill>
                  <a:srgbClr val="94A3B8"/>
                </a:solidFill>
                <a:latin typeface="Calibri"/>
              </a:defRPr>
            </a:pPr>
            <a:r>
              <a:t>Hands-off execution</a:t>
            </a:r>
          </a:p>
        </p:txBody>
      </p:sp>
      <p:sp>
        <p:nvSpPr>
          <p:cNvPr id="45" name="Rectangle 44"/>
          <p:cNvSpPr/>
          <p:nvPr/>
        </p:nvSpPr>
        <p:spPr>
          <a:xfrm>
            <a:off x="731520" y="6217920"/>
            <a:ext cx="10515600" cy="457200"/>
          </a:xfrm>
          <a:prstGeom prst="rect">
            <a:avLst/>
          </a:prstGeom>
          <a:solidFill>
            <a:srgbClr val="1A253C"/>
          </a:solidFill>
          <a:ln w="12700">
            <a:solidFill>
              <a:srgbClr val="10B9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914400" y="626364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10B981"/>
                </a:solidFill>
                <a:latin typeface="Calibri"/>
              </a:defRPr>
            </a:pPr>
            <a:r>
              <a:t>Developers learn 7 commands. Everything else is behind the scenes.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80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Calibri"/>
              </a:defRPr>
            </a:pPr>
            <a:r>
              <a:t>Cost-Conscious by Design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0584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94A3B8"/>
                </a:solidFill>
                <a:latin typeface="Calibri"/>
              </a:defRPr>
            </a:pPr>
            <a:r>
              <a:t>Three-tier model strategy routes each task to the right capability level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828800"/>
            <a:ext cx="3474720" cy="3200400"/>
          </a:xfrm>
          <a:prstGeom prst="rect">
            <a:avLst/>
          </a:prstGeom>
          <a:solidFill>
            <a:srgbClr val="1A253C"/>
          </a:solidFill>
          <a:ln w="25400">
            <a:solidFill>
              <a:srgbClr val="10B9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920240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10B981"/>
                </a:solidFill>
                <a:latin typeface="Calibri"/>
              </a:defRPr>
            </a:pPr>
            <a:r>
              <a:t>Haiku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377440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0">
                <a:solidFill>
                  <a:srgbClr val="CBD5E1"/>
                </a:solidFill>
                <a:latin typeface="Calibri"/>
              </a:defRPr>
            </a:pPr>
            <a:r>
              <a:t>Fast retrieval &amp;</a:t>
            </a:r>
            <a:br/>
            <a:r>
              <a:t>simple analysis</a:t>
            </a:r>
          </a:p>
        </p:txBody>
      </p:sp>
      <p:sp>
        <p:nvSpPr>
          <p:cNvPr id="8" name="Rectangle 7"/>
          <p:cNvSpPr/>
          <p:nvPr/>
        </p:nvSpPr>
        <p:spPr>
          <a:xfrm>
            <a:off x="914400" y="2971800"/>
            <a:ext cx="2560320" cy="12700"/>
          </a:xfrm>
          <a:prstGeom prst="rect">
            <a:avLst/>
          </a:prstGeom>
          <a:solidFill>
            <a:srgbClr val="3340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3063240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94A3B8"/>
                </a:solidFill>
                <a:latin typeface="Calibri"/>
              </a:defRPr>
            </a:pPr>
            <a:r>
              <a:t>7 agents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3291840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94A3B8"/>
                </a:solidFill>
                <a:latin typeface="Calibri"/>
              </a:defRPr>
            </a:pPr>
            <a:r>
              <a:t>$0.25 / $1.25 per MTok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3657600"/>
            <a:ext cx="29260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CBD5E1"/>
                </a:solidFill>
                <a:latin typeface="Calibri"/>
              </a:defRPr>
            </a:pPr>
            <a:r>
              <a:t>Learnings search, file exploration,</a:t>
            </a:r>
            <a:br/>
            <a:r>
              <a:t>codebase reconnaissance, framework docs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297680" y="1828800"/>
            <a:ext cx="3474720" cy="3200400"/>
          </a:xfrm>
          <a:prstGeom prst="rect">
            <a:avLst/>
          </a:prstGeom>
          <a:solidFill>
            <a:srgbClr val="1A253C"/>
          </a:solidFill>
          <a:ln w="25400">
            <a:solidFill>
              <a:srgbClr val="3B82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297680" y="1920240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3B82F6"/>
                </a:solidFill>
                <a:latin typeface="Calibri"/>
              </a:defRPr>
            </a:pPr>
            <a:r>
              <a:t>Sonnet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297680" y="2377440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0">
                <a:solidFill>
                  <a:srgbClr val="CBD5E1"/>
                </a:solidFill>
                <a:latin typeface="Calibri"/>
              </a:defRPr>
            </a:pPr>
            <a:r>
              <a:t>Judgment &amp;</a:t>
            </a:r>
            <a:br/>
            <a:r>
              <a:t>implementation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754880" y="2971800"/>
            <a:ext cx="2560320" cy="12700"/>
          </a:xfrm>
          <a:prstGeom prst="rect">
            <a:avLst/>
          </a:prstGeom>
          <a:solidFill>
            <a:srgbClr val="3340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297680" y="3063240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94A3B8"/>
                </a:solidFill>
                <a:latin typeface="Calibri"/>
              </a:defRPr>
            </a:pPr>
            <a:r>
              <a:t>12 agents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297680" y="3291840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94A3B8"/>
                </a:solidFill>
                <a:latin typeface="Calibri"/>
              </a:defRPr>
            </a:pPr>
            <a:r>
              <a:t>$3 / $15 per MTok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0" y="3657600"/>
            <a:ext cx="29260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CBD5E1"/>
                </a:solidFill>
                <a:latin typeface="Calibri"/>
              </a:defRPr>
            </a:pPr>
            <a:r>
              <a:t>Code review, test generation,</a:t>
            </a:r>
            <a:br/>
            <a:r>
              <a:t>edge case analysis, team implementation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138160" y="1828800"/>
            <a:ext cx="3474720" cy="3200400"/>
          </a:xfrm>
          <a:prstGeom prst="rect">
            <a:avLst/>
          </a:prstGeom>
          <a:solidFill>
            <a:srgbClr val="1A253C"/>
          </a:solidFill>
          <a:ln w="25400">
            <a:solidFill>
              <a:srgbClr val="8B5C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138160" y="1920240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8B5CF6"/>
                </a:solidFill>
                <a:latin typeface="Calibri"/>
              </a:defRPr>
            </a:pPr>
            <a:r>
              <a:t>Opus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138160" y="2377440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0">
                <a:solidFill>
                  <a:srgbClr val="CBD5E1"/>
                </a:solidFill>
                <a:latin typeface="Calibri"/>
              </a:defRPr>
            </a:pPr>
            <a:r>
              <a:t>Deep reasoning &amp;</a:t>
            </a:r>
            <a:br/>
            <a:r>
              <a:t>architecture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595360" y="2971800"/>
            <a:ext cx="2560320" cy="12700"/>
          </a:xfrm>
          <a:prstGeom prst="rect">
            <a:avLst/>
          </a:prstGeom>
          <a:solidFill>
            <a:srgbClr val="3340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138160" y="3063240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94A3B8"/>
                </a:solidFill>
                <a:latin typeface="Calibri"/>
              </a:defRPr>
            </a:pPr>
            <a:r>
              <a:t>5 agents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138160" y="3291840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94A3B8"/>
                </a:solidFill>
                <a:latin typeface="Calibri"/>
              </a:defRPr>
            </a:pPr>
            <a:r>
              <a:t>$15 / $75 per MTok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412480" y="3657600"/>
            <a:ext cx="29260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CBD5E1"/>
                </a:solidFill>
                <a:latin typeface="Calibri"/>
              </a:defRPr>
            </a:pPr>
            <a:r>
              <a:t>Adversarial validation, team lead,</a:t>
            </a:r>
            <a:br/>
            <a:r>
              <a:t>complex planning, security architecture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31520" y="5394960"/>
            <a:ext cx="10515600" cy="1188720"/>
          </a:xfrm>
          <a:prstGeom prst="rect">
            <a:avLst/>
          </a:prstGeom>
          <a:solidFill>
            <a:srgbClr val="1A253C"/>
          </a:solidFill>
          <a:ln w="12700">
            <a:solidFill>
              <a:srgbClr val="10B9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097280" y="5486400"/>
            <a:ext cx="9784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10B981"/>
                </a:solidFill>
                <a:latin typeface="Calibri"/>
              </a:defRPr>
            </a:pPr>
            <a:r>
              <a:t>Estimated 35–40% cost reduction vs. running Opus for everything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97280" y="5943600"/>
            <a:ext cx="9784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94A3B8"/>
                </a:solidFill>
                <a:latin typeface="Calibri"/>
              </a:defRPr>
            </a:pPr>
            <a:r>
              <a:t>Most token-heavy work (file scanning, pattern matching, test running) runs on Haiku.</a:t>
            </a:r>
            <a:br/>
            <a:r>
              <a:t>High-judgment tasks (review, implementation) run on Sonnet. Only critical decisions use Opus.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8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Calibri"/>
              </a:defRPr>
            </a:pPr>
            <a:r>
              <a:t>Adoption Plan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0584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94A3B8"/>
                </a:solidFill>
                <a:latin typeface="Calibri"/>
              </a:defRPr>
            </a:pPr>
            <a:r>
              <a:t>Low-risk, phased rollout with measurable outcomes at each stage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828800"/>
            <a:ext cx="2651760" cy="4114800"/>
          </a:xfrm>
          <a:prstGeom prst="rect">
            <a:avLst/>
          </a:prstGeom>
          <a:solidFill>
            <a:srgbClr val="1A253C"/>
          </a:solidFill>
          <a:ln w="25400">
            <a:solidFill>
              <a:srgbClr val="3B82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1920240"/>
            <a:ext cx="2651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94A3B8"/>
                </a:solidFill>
                <a:latin typeface="Calibri"/>
              </a:defRPr>
            </a:pPr>
            <a:r>
              <a:t>Week 1–2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2194560"/>
            <a:ext cx="2651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3B82F6"/>
                </a:solidFill>
                <a:latin typeface="Calibri"/>
              </a:defRPr>
            </a:pPr>
            <a:r>
              <a:t>Pilot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743200"/>
            <a:ext cx="22860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300">
                <a:solidFill>
                  <a:srgbClr val="CBD5E1"/>
                </a:solidFill>
                <a:latin typeface="Calibri"/>
              </a:defRPr>
            </a:pPr>
            <a:r>
              <a:t>Single team, single project</a:t>
            </a:r>
          </a:p>
          <a:p>
            <a:pPr>
              <a:spcAft>
                <a:spcPts val="500"/>
              </a:spcAft>
              <a:defRPr sz="1300">
                <a:solidFill>
                  <a:srgbClr val="CBD5E1"/>
                </a:solidFill>
                <a:latin typeface="Calibri"/>
              </a:defRPr>
            </a:pPr>
            <a:r>
              <a:t>Install framework (~10 min setup)</a:t>
            </a:r>
          </a:p>
          <a:p>
            <a:pPr>
              <a:spcAft>
                <a:spcPts val="500"/>
              </a:spcAft>
              <a:defRPr sz="1300">
                <a:solidFill>
                  <a:srgbClr val="CBD5E1"/>
                </a:solidFill>
                <a:latin typeface="Calibri"/>
              </a:defRPr>
            </a:pPr>
            <a:r>
              <a:t>/setup auto-detects stack</a:t>
            </a:r>
          </a:p>
          <a:p>
            <a:pPr>
              <a:spcAft>
                <a:spcPts val="500"/>
              </a:spcAft>
              <a:defRPr sz="1300">
                <a:solidFill>
                  <a:srgbClr val="CBD5E1"/>
                </a:solidFill>
                <a:latin typeface="Calibri"/>
              </a:defRPr>
            </a:pPr>
            <a:r>
              <a:t>Developers learn 7 commands</a:t>
            </a:r>
          </a:p>
          <a:p>
            <a:pPr>
              <a:spcAft>
                <a:spcPts val="500"/>
              </a:spcAft>
              <a:defRPr sz="1300">
                <a:solidFill>
                  <a:srgbClr val="CBD5E1"/>
                </a:solidFill>
                <a:latin typeface="Calibri"/>
              </a:defRPr>
            </a:pPr>
            <a:r>
              <a:t>Measure: baseline defect rate</a:t>
            </a:r>
          </a:p>
        </p:txBody>
      </p:sp>
      <p:sp>
        <p:nvSpPr>
          <p:cNvPr id="9" name="Rectangle 8"/>
          <p:cNvSpPr/>
          <p:nvPr/>
        </p:nvSpPr>
        <p:spPr>
          <a:xfrm>
            <a:off x="3291840" y="1828800"/>
            <a:ext cx="2651760" cy="4114800"/>
          </a:xfrm>
          <a:prstGeom prst="rect">
            <a:avLst/>
          </a:prstGeom>
          <a:solidFill>
            <a:srgbClr val="1A253C"/>
          </a:solidFill>
          <a:ln w="25400">
            <a:solidFill>
              <a:srgbClr val="10B9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291840" y="1920240"/>
            <a:ext cx="2651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94A3B8"/>
                </a:solidFill>
                <a:latin typeface="Calibri"/>
              </a:defRPr>
            </a:pPr>
            <a:r>
              <a:t>Week 3–4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91840" y="2194560"/>
            <a:ext cx="2651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10B981"/>
                </a:solidFill>
                <a:latin typeface="Calibri"/>
              </a:defRPr>
            </a:pPr>
            <a:r>
              <a:t>Measure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474720" y="2743200"/>
            <a:ext cx="22860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300">
                <a:solidFill>
                  <a:srgbClr val="CBD5E1"/>
                </a:solidFill>
                <a:latin typeface="Calibri"/>
              </a:defRPr>
            </a:pPr>
            <a:r>
              <a:t>Track defects caught by review agents</a:t>
            </a:r>
          </a:p>
          <a:p>
            <a:pPr>
              <a:spcAft>
                <a:spcPts val="500"/>
              </a:spcAft>
              <a:defRPr sz="1300">
                <a:solidFill>
                  <a:srgbClr val="CBD5E1"/>
                </a:solidFill>
                <a:latin typeface="Calibri"/>
              </a:defRPr>
            </a:pPr>
            <a:r>
              <a:t>Track time-to-PR vs. baseline</a:t>
            </a:r>
          </a:p>
          <a:p>
            <a:pPr>
              <a:spcAft>
                <a:spcPts val="500"/>
              </a:spcAft>
              <a:defRPr sz="1300">
                <a:solidFill>
                  <a:srgbClr val="CBD5E1"/>
                </a:solidFill>
                <a:latin typeface="Calibri"/>
              </a:defRPr>
            </a:pPr>
            <a:r>
              <a:t>Count knowledge docs created</a:t>
            </a:r>
          </a:p>
          <a:p>
            <a:pPr>
              <a:spcAft>
                <a:spcPts val="500"/>
              </a:spcAft>
              <a:defRPr sz="1300">
                <a:solidFill>
                  <a:srgbClr val="CBD5E1"/>
                </a:solidFill>
                <a:latin typeface="Calibri"/>
              </a:defRPr>
            </a:pPr>
            <a:r>
              <a:t>Measure developer satisfaction (survey)</a:t>
            </a:r>
          </a:p>
          <a:p>
            <a:pPr>
              <a:spcAft>
                <a:spcPts val="500"/>
              </a:spcAft>
              <a:defRPr sz="1300">
                <a:solidFill>
                  <a:srgbClr val="CBD5E1"/>
                </a:solidFill>
                <a:latin typeface="Calibri"/>
              </a:defRPr>
            </a:pPr>
            <a:r>
              <a:t>Identify friction points to address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217920" y="1828800"/>
            <a:ext cx="2651760" cy="4114800"/>
          </a:xfrm>
          <a:prstGeom prst="rect">
            <a:avLst/>
          </a:prstGeom>
          <a:solidFill>
            <a:srgbClr val="1A253C"/>
          </a:solidFill>
          <a:ln w="25400">
            <a:solidFill>
              <a:srgbClr val="8B5C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217920" y="1920240"/>
            <a:ext cx="2651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94A3B8"/>
                </a:solidFill>
                <a:latin typeface="Calibri"/>
              </a:defRPr>
            </a:pPr>
            <a:r>
              <a:t>Week 5–6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17920" y="2194560"/>
            <a:ext cx="2651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8B5CF6"/>
                </a:solidFill>
                <a:latin typeface="Calibri"/>
              </a:defRPr>
            </a:pPr>
            <a:r>
              <a:t>Expand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2743200"/>
            <a:ext cx="22860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300">
                <a:solidFill>
                  <a:srgbClr val="CBD5E1"/>
                </a:solidFill>
                <a:latin typeface="Calibri"/>
              </a:defRPr>
            </a:pPr>
            <a:r>
              <a:t>Second team onboards</a:t>
            </a:r>
          </a:p>
          <a:p>
            <a:pPr>
              <a:spcAft>
                <a:spcPts val="500"/>
              </a:spcAft>
              <a:defRPr sz="1300">
                <a:solidFill>
                  <a:srgbClr val="CBD5E1"/>
                </a:solidFill>
                <a:latin typeface="Calibri"/>
              </a:defRPr>
            </a:pPr>
            <a:r>
              <a:t>Cross-team knowledge sharing begins</a:t>
            </a:r>
          </a:p>
          <a:p>
            <a:pPr>
              <a:spcAft>
                <a:spcPts val="500"/>
              </a:spcAft>
              <a:defRPr sz="1300">
                <a:solidFill>
                  <a:srgbClr val="CBD5E1"/>
                </a:solidFill>
                <a:latin typeface="Calibri"/>
              </a:defRPr>
            </a:pPr>
            <a:r>
              <a:t>Customize per-project review agents</a:t>
            </a:r>
          </a:p>
          <a:p>
            <a:pPr>
              <a:spcAft>
                <a:spcPts val="500"/>
              </a:spcAft>
              <a:defRPr sz="1300">
                <a:solidFill>
                  <a:srgbClr val="CBD5E1"/>
                </a:solidFill>
                <a:latin typeface="Calibri"/>
              </a:defRPr>
            </a:pPr>
            <a:r>
              <a:t>Refine CLAUDE.md per team conventions</a:t>
            </a:r>
          </a:p>
          <a:p>
            <a:pPr>
              <a:spcAft>
                <a:spcPts val="500"/>
              </a:spcAft>
              <a:defRPr sz="1300">
                <a:solidFill>
                  <a:srgbClr val="CBD5E1"/>
                </a:solidFill>
                <a:latin typeface="Calibri"/>
              </a:defRPr>
            </a:pPr>
            <a:r>
              <a:t>Present pilot results to leadership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144000" y="1828800"/>
            <a:ext cx="2651760" cy="4114800"/>
          </a:xfrm>
          <a:prstGeom prst="rect">
            <a:avLst/>
          </a:prstGeom>
          <a:solidFill>
            <a:srgbClr val="1A253C"/>
          </a:solidFill>
          <a:ln w="25400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0" y="1920240"/>
            <a:ext cx="2651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94A3B8"/>
                </a:solidFill>
                <a:latin typeface="Calibri"/>
              </a:defRPr>
            </a:pPr>
            <a:r>
              <a:t>Week 7+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0" y="2194560"/>
            <a:ext cx="2651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F59E0B"/>
                </a:solidFill>
                <a:latin typeface="Calibri"/>
              </a:defRPr>
            </a:pPr>
            <a:r>
              <a:t>Standardize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326880" y="2743200"/>
            <a:ext cx="22860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300">
                <a:solidFill>
                  <a:srgbClr val="CBD5E1"/>
                </a:solidFill>
                <a:latin typeface="Calibri"/>
              </a:defRPr>
            </a:pPr>
            <a:r>
              <a:t>Company-wide rollout</a:t>
            </a:r>
          </a:p>
          <a:p>
            <a:pPr>
              <a:spcAft>
                <a:spcPts val="500"/>
              </a:spcAft>
              <a:defRPr sz="1300">
                <a:solidFill>
                  <a:srgbClr val="CBD5E1"/>
                </a:solidFill>
                <a:latin typeface="Calibri"/>
              </a:defRPr>
            </a:pPr>
            <a:r>
              <a:t>Shared knowledge base across teams</a:t>
            </a:r>
          </a:p>
          <a:p>
            <a:pPr>
              <a:spcAft>
                <a:spcPts val="500"/>
              </a:spcAft>
              <a:defRPr sz="1300">
                <a:solidFill>
                  <a:srgbClr val="CBD5E1"/>
                </a:solidFill>
                <a:latin typeface="Calibri"/>
              </a:defRPr>
            </a:pPr>
            <a:r>
              <a:t>CI/CD integration for review gates</a:t>
            </a:r>
          </a:p>
          <a:p>
            <a:pPr>
              <a:spcAft>
                <a:spcPts val="500"/>
              </a:spcAft>
              <a:defRPr sz="1300">
                <a:solidFill>
                  <a:srgbClr val="CBD5E1"/>
                </a:solidFill>
                <a:latin typeface="Calibri"/>
              </a:defRPr>
            </a:pPr>
            <a:r>
              <a:t>Training materials from pilot learnings</a:t>
            </a:r>
          </a:p>
          <a:p>
            <a:pPr>
              <a:spcAft>
                <a:spcPts val="500"/>
              </a:spcAft>
              <a:defRPr sz="1300">
                <a:solidFill>
                  <a:srgbClr val="CBD5E1"/>
                </a:solidFill>
                <a:latin typeface="Calibri"/>
              </a:defRPr>
            </a:pPr>
            <a:r>
              <a:t>Ongoing metric tracking &amp; tuning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31520" y="6217920"/>
            <a:ext cx="10515600" cy="457200"/>
          </a:xfrm>
          <a:prstGeom prst="rect">
            <a:avLst/>
          </a:prstGeom>
          <a:solidFill>
            <a:srgbClr val="1A253C"/>
          </a:solidFill>
          <a:ln w="12700">
            <a:solidFill>
              <a:srgbClr val="10B9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14400" y="626364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10B981"/>
                </a:solidFill>
                <a:latin typeface="Calibri"/>
              </a:defRPr>
            </a:pPr>
            <a:r>
              <a:t>The ask: approve a 2-week pilot with one team. We'll bring back metrics.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800"/>
          </a:xfrm>
          <a:prstGeom prst="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  <a:latin typeface="Calibri"/>
              </a:defRPr>
            </a:pPr>
            <a:r>
              <a:t>AI Engineering Standards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0" y="2468880"/>
            <a:ext cx="2103120" cy="25400"/>
          </a:xfrm>
          <a:prstGeom prst="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2926080"/>
            <a:ext cx="3383280" cy="1097280"/>
          </a:xfrm>
          <a:prstGeom prst="rect">
            <a:avLst/>
          </a:prstGeom>
          <a:solidFill>
            <a:srgbClr val="1A253C"/>
          </a:solidFill>
          <a:ln w="25400">
            <a:solidFill>
              <a:srgbClr val="3B82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3017520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3B82F6"/>
                </a:solidFill>
                <a:latin typeface="Calibri"/>
              </a:defRPr>
            </a:pPr>
            <a:r>
              <a:t>Automated Review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3429000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94A3B8"/>
                </a:solidFill>
                <a:latin typeface="Calibri"/>
              </a:defRPr>
            </a:pPr>
            <a:r>
              <a:t>Catch what humans miss</a:t>
            </a:r>
          </a:p>
        </p:txBody>
      </p:sp>
      <p:sp>
        <p:nvSpPr>
          <p:cNvPr id="8" name="Rectangle 7"/>
          <p:cNvSpPr/>
          <p:nvPr/>
        </p:nvSpPr>
        <p:spPr>
          <a:xfrm>
            <a:off x="4480559" y="2926080"/>
            <a:ext cx="3383280" cy="1097280"/>
          </a:xfrm>
          <a:prstGeom prst="rect">
            <a:avLst/>
          </a:prstGeom>
          <a:solidFill>
            <a:srgbClr val="1A253C"/>
          </a:solidFill>
          <a:ln w="25400">
            <a:solidFill>
              <a:srgbClr val="10B9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480559" y="3017520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10B981"/>
                </a:solidFill>
                <a:latin typeface="Calibri"/>
              </a:defRPr>
            </a:pPr>
            <a:r>
              <a:t>Knowledge Compounding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480559" y="3429000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94A3B8"/>
                </a:solidFill>
                <a:latin typeface="Calibri"/>
              </a:defRPr>
            </a:pPr>
            <a:r>
              <a:t>Never solve the same problem twice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29600" y="2926080"/>
            <a:ext cx="3383280" cy="1097280"/>
          </a:xfrm>
          <a:prstGeom prst="rect">
            <a:avLst/>
          </a:prstGeom>
          <a:solidFill>
            <a:srgbClr val="1A253C"/>
          </a:solidFill>
          <a:ln w="25400">
            <a:solidFill>
              <a:srgbClr val="8B5C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0" y="3017520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8B5CF6"/>
                </a:solidFill>
                <a:latin typeface="Calibri"/>
              </a:defRPr>
            </a:pPr>
            <a:r>
              <a:t>Controlled Autonomy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0" y="3429000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94A3B8"/>
                </a:solidFill>
                <a:latin typeface="Calibri"/>
              </a:defRPr>
            </a:pPr>
            <a:r>
              <a:t>10x throughput with review gates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457200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CBD5E1"/>
                </a:solidFill>
                <a:latin typeface="Calibri"/>
              </a:defRPr>
            </a:pPr>
            <a:r>
              <a:t>Built on Anthropic's EPCC.  10-minute setup.  7 commands to learn.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530352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3B82F6"/>
                </a:solidFill>
                <a:latin typeface="Calibri"/>
              </a:defRPr>
            </a:pPr>
            <a:r>
              <a:t>Questions?</a:t>
            </a:r>
          </a:p>
        </p:txBody>
      </p:sp>
      <p:sp>
        <p:nvSpPr>
          <p:cNvPr id="16" name="Rectangle 15"/>
          <p:cNvSpPr/>
          <p:nvPr/>
        </p:nvSpPr>
        <p:spPr>
          <a:xfrm>
            <a:off x="0" y="6492240"/>
            <a:ext cx="12191695" cy="25400"/>
          </a:xfrm>
          <a:prstGeom prst="rect">
            <a:avLst/>
          </a:prstGeom>
          <a:solidFill>
            <a:srgbClr val="3340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